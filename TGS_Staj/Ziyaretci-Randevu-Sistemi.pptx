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Corben" panose="020B0604020202020204" charset="0"/>
      <p:regular r:id="rId12"/>
    </p:embeddedFont>
    <p:embeddedFont>
      <p:font typeface="Nobile" panose="020B0604020202020204" charset="0"/>
      <p:regular r:id="rId13"/>
    </p:embeddedFont>
    <p:embeddedFont>
      <p:font typeface="Nobile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4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8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270174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Ziyaretçi Randevu Sistemi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0023" y="1983804"/>
            <a:ext cx="1934617" cy="234479"/>
          </a:xfrm>
          <a:prstGeom prst="roundRect">
            <a:avLst>
              <a:gd name="adj" fmla="val 22111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32594" y="2030090"/>
            <a:ext cx="220667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FONKSIYONEL TEST RAPORU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0023" y="2391817"/>
            <a:ext cx="8063954" cy="148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 rapor, Ziyaretçi Randevu Sistemi'ne ait uçtan uca (E2E) fonksiyonel test senaryolarını ve BDD otomasyon koşumundan elde edilen resmi sonuçları kapsamaktadır. Sistemde üç temel test senaryosu yürütülmüş olup tümü başarıyla tamamlanmıştır: ziyaretçi tarafından başarılı randevu oluşturulması (TC-001), admin tarafından randevu onaylanması (TC-002) ve admin paneli "Notlar" alanı üzerinden XSS zafiyet kontrolü (TC-003). Testler, Behave framework kullanılarak otomatize edilmiş ve her bir senaryo için beklenen sonuçlar DOM düzeyinde doğrulanmıştır.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38609"/>
            <a:ext cx="8063954" cy="39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 Case 1: Başarılı Randevu Oluşturulması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40023" y="1136452"/>
            <a:ext cx="489049" cy="190500"/>
          </a:xfrm>
          <a:prstGeom prst="roundRect">
            <a:avLst>
              <a:gd name="adj" fmla="val 22113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15181" y="1174031"/>
            <a:ext cx="795933" cy="115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TC-001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091729" y="1134070"/>
            <a:ext cx="560487" cy="195263"/>
          </a:xfrm>
          <a:prstGeom prst="roundRect">
            <a:avLst>
              <a:gd name="adj" fmla="val 21574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166887" y="1171649"/>
            <a:ext cx="867370" cy="120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0023" y="1443930"/>
            <a:ext cx="8063954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 test senaryosu, ziyaretçinin ana sayfa üzerinden eksiksiz ve geçerli bilgilerle randevu oluşturup oluşturamadığını doğrulamaktadır. Senaryo, sistemin form validasyonu, personel seçimi, tarih-saat kontrolü ve KVKK onayı süreçlerinin doğru çalıştığını test etmektedir.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9759" y="1922115"/>
            <a:ext cx="4059585" cy="1486644"/>
          </a:xfrm>
          <a:prstGeom prst="roundRect">
            <a:avLst>
              <a:gd name="adj" fmla="val 6072"/>
            </a:avLst>
          </a:prstGeom>
          <a:solidFill>
            <a:srgbClr val="4967E9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75072" y="2023914"/>
            <a:ext cx="3808958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Ön Koşul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5072" y="2321570"/>
            <a:ext cx="3808958" cy="7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Kullanıcı ana sayfada olmalı ve sistemde en az 1 onaylanmış personel bulunmalıdır. Bu ön koşul, ziyaretçinin randevu oluşturabilmesi için personel listesinin dolu olması gerektiğini güvence altına almaktadır.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9683" y="2023914"/>
            <a:ext cx="3879056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 Adımları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9683" y="2321570"/>
            <a:ext cx="3879056" cy="1051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 Soyad, TC Kimlik ve Geçerli E-posta alanları doldurulur.</a:t>
            </a:r>
            <a:endParaRPr lang="en-US" sz="950" dirty="0"/>
          </a:p>
          <a:p>
            <a:pPr marL="193040" indent="-1930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Personel listesinden seçim yapılır.</a:t>
            </a:r>
            <a:endParaRPr lang="en-US" sz="950" dirty="0"/>
          </a:p>
          <a:p>
            <a:pPr marL="193040" indent="-1930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İleri bir tarih seçilir ve müsait olan bir saat dilimi belirlenir.</a:t>
            </a:r>
            <a:endParaRPr lang="en-US" sz="950" dirty="0"/>
          </a:p>
          <a:p>
            <a:pPr marL="193040" indent="-1930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KVKK onayı işaretlenir.</a:t>
            </a:r>
            <a:endParaRPr lang="en-US" sz="950" dirty="0"/>
          </a:p>
          <a:p>
            <a:pPr marL="193040" indent="-1930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Gönder butonuna basılır.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3523357"/>
            <a:ext cx="3981078" cy="108153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6774" y="3662958"/>
            <a:ext cx="3644726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Beklenen Sonuç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6774" y="3919910"/>
            <a:ext cx="3644726" cy="545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Form başarıyla iletilmeli ve ekranda yeşil renkli </a:t>
            </a: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"Randevu talebiniz başarıyla iletildi"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uyarı mesajı (alert-success) görüntülenmelidir.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99" y="3523357"/>
            <a:ext cx="3981078" cy="10815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19650" y="3662958"/>
            <a:ext cx="3644726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Gerçekleşen Durum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19650" y="3919910"/>
            <a:ext cx="3644726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Otomasyon (Behave) testiyle doğrulandı. Form başarıyla gönderildi ve alert-success mesajı DOM'da tespit edildi.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34950"/>
            <a:ext cx="8063954" cy="248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 Case 2: Admin Tarafından Randevu Onaylanması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40023" y="767953"/>
            <a:ext cx="321618" cy="120774"/>
          </a:xfrm>
          <a:prstGeom prst="roundRect">
            <a:avLst>
              <a:gd name="adj" fmla="val 22135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87722" y="791766"/>
            <a:ext cx="683419" cy="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TC-002</a:t>
            </a:r>
            <a:endParaRPr lang="en-US" sz="500" dirty="0"/>
          </a:p>
        </p:txBody>
      </p:sp>
      <p:sp>
        <p:nvSpPr>
          <p:cNvPr id="5" name="Shape 3"/>
          <p:cNvSpPr/>
          <p:nvPr/>
        </p:nvSpPr>
        <p:spPr>
          <a:xfrm>
            <a:off x="901378" y="765572"/>
            <a:ext cx="355774" cy="125537"/>
          </a:xfrm>
          <a:prstGeom prst="roundRect">
            <a:avLst>
              <a:gd name="adj" fmla="val 21295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49077" y="789384"/>
            <a:ext cx="717575" cy="7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540023" y="937245"/>
            <a:ext cx="806395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paneli üzerinden bekleyen randevuların onaylanma sürecini test eden bu senaryo, TC-001'in başarıyla tamamlanmış olmasını ön koşul olarak gerektirmektedir. Sistemde "Bekliyor" statüsünde en az 1 adet randevu kaydı bulunmalıdır. Test, admin girişinden randevu onaylama işlemine kadar olan tüm akışı kapsamaktadır.</a:t>
            </a:r>
            <a:endParaRPr lang="en-US" sz="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47" y="1176263"/>
            <a:ext cx="4736232" cy="28109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00343" y="3335229"/>
            <a:ext cx="1177328" cy="22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Onayla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16586" y="3335229"/>
            <a:ext cx="1177329" cy="22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08638" y="3335229"/>
            <a:ext cx="1177329" cy="22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Giriş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0023" y="4033391"/>
            <a:ext cx="806395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Yukarıdaki diyagram, admin onay sürecinin üç temel adımını özetlemektedir: admin bilgileriyle sisteme giriş yapılması, dashboard ekranında bekleyen randevular listesinin görüntülenmesi ve ilgili randevunun "Onayla" butonuyla onaylanması.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40023" y="4313411"/>
            <a:ext cx="3934941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Beklenen Sonuç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40023" y="4478759"/>
            <a:ext cx="439214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Sayfa yenilenmeli ve randevu durumu </a:t>
            </a:r>
            <a:r>
              <a:rPr lang="en-US" sz="6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"Onaylandı"</a:t>
            </a:r>
            <a:r>
              <a:rPr lang="en-US" sz="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olarak güncellenmelidir. Başarı mesajı alınmalıdır.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4616500" y="4272409"/>
            <a:ext cx="4049539" cy="436141"/>
          </a:xfrm>
          <a:prstGeom prst="roundRect">
            <a:avLst>
              <a:gd name="adj" fmla="val 13135"/>
            </a:avLst>
          </a:prstGeom>
          <a:solidFill>
            <a:srgbClr val="4967E9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4696048" y="4313411"/>
            <a:ext cx="3890442" cy="12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Gerçekleşen Durum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696048" y="4478759"/>
            <a:ext cx="389044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Otomasyon testi "Onayla" butonunu tespit edip form post işlemini gerçekleştirdi. </a:t>
            </a:r>
            <a:r>
              <a:rPr lang="en-US" sz="6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"Randevu durumu güncellendi: Onaylandı"</a:t>
            </a:r>
            <a:r>
              <a:rPr lang="en-US" sz="6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mesajı doğrulandı.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448047"/>
            <a:ext cx="4634954" cy="29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 Case 3: XSS Zafiyet Kontrolü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3969023" y="830163"/>
            <a:ext cx="381223" cy="142875"/>
          </a:xfrm>
          <a:prstGeom prst="roundRect">
            <a:avLst>
              <a:gd name="adj" fmla="val 22113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4025429" y="858366"/>
            <a:ext cx="725612" cy="8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TC-003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397201" y="830163"/>
            <a:ext cx="1133401" cy="142875"/>
          </a:xfrm>
          <a:prstGeom prst="roundRect">
            <a:avLst>
              <a:gd name="adj" fmla="val 22113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453607" y="858366"/>
            <a:ext cx="1477789" cy="8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SECURITY / NEGATIVE TEST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5577557" y="827782"/>
            <a:ext cx="420365" cy="147638"/>
          </a:xfrm>
          <a:prstGeom prst="roundRect">
            <a:avLst>
              <a:gd name="adj" fmla="val 21400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633963" y="855985"/>
            <a:ext cx="764753" cy="9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3969023" y="1039862"/>
            <a:ext cx="4634954" cy="363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 güvenlik testi, admin panelindeki "Notlar" alanına zararlı script enjekte edilerek sistemin XSS saldırılarına karşı dayanıklılığını ölçmektedir. Test, client-side savunma mekanizmasının zararlı payload'u backend'e ulaşmadan önce engellediğini doğrulamaktadır.</a:t>
            </a:r>
            <a:endParaRPr lang="en-US" sz="7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9023" y="1467520"/>
            <a:ext cx="4634954" cy="5641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93666" y="1661443"/>
            <a:ext cx="14101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411935" y="1571030"/>
            <a:ext cx="4088532" cy="1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Adım 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411935" y="1752377"/>
            <a:ext cx="4088532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Randevu satırındaki "Düzenle" butonuna tıklanarak modal açılır.</a:t>
            </a:r>
            <a:endParaRPr lang="en-US" sz="7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23" y="2088952"/>
            <a:ext cx="4634954" cy="6400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93666" y="2320826"/>
            <a:ext cx="14101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411935" y="2192462"/>
            <a:ext cx="4088532" cy="1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Adım 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411935" y="2373809"/>
            <a:ext cx="4088532" cy="25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Notlar (textarea) kısmına XSS payload'u olan </a:t>
            </a:r>
            <a:r>
              <a:rPr lang="en-US" sz="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&lt;script&gt;alert('XSS Başarılı')&lt;/script&gt;</a:t>
            </a: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verisi girilir.</a:t>
            </a:r>
            <a:endParaRPr lang="en-US" sz="7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9023" y="2786286"/>
            <a:ext cx="4634954" cy="56413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93666" y="2980209"/>
            <a:ext cx="14101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411935" y="2889796"/>
            <a:ext cx="4088532" cy="1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Adım 3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411935" y="3071143"/>
            <a:ext cx="4088532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"Kaydet" butonuna tıklanır.</a:t>
            </a:r>
            <a:endParaRPr lang="en-US" sz="7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9023" y="3407718"/>
            <a:ext cx="4634954" cy="56413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93666" y="3601641"/>
            <a:ext cx="14101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411935" y="3511228"/>
            <a:ext cx="4088532" cy="1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Adım 4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411935" y="3692575"/>
            <a:ext cx="4088532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Sayfa yüklendiğinde JavaScript "alert" kutusunun çalışıp çalışmadığı kontrol edilir.</a:t>
            </a:r>
            <a:endParaRPr lang="en-US" sz="700" dirty="0"/>
          </a:p>
        </p:txBody>
      </p:sp>
      <p:sp>
        <p:nvSpPr>
          <p:cNvPr id="27" name="Shape 20"/>
          <p:cNvSpPr/>
          <p:nvPr/>
        </p:nvSpPr>
        <p:spPr>
          <a:xfrm>
            <a:off x="3969023" y="4036293"/>
            <a:ext cx="4634954" cy="659085"/>
          </a:xfrm>
          <a:prstGeom prst="roundRect">
            <a:avLst>
              <a:gd name="adj" fmla="val 599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008" y="4157142"/>
            <a:ext cx="117500" cy="9398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274493" y="4117032"/>
            <a:ext cx="4235500" cy="503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Beklenen Sonuç:</a:t>
            </a:r>
            <a:r>
              <a:rPr lang="en-US" sz="7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Sistem özel karakterleri engellemeli veya HTML escape yapmalıdır. Kesinlikle </a:t>
            </a:r>
            <a:r>
              <a:rPr lang="en-US" sz="700" dirty="0">
                <a:solidFill>
                  <a:srgbClr val="000000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alert('XSS Başarılı')</a:t>
            </a:r>
            <a:r>
              <a:rPr lang="en-US" sz="7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şeklinde bir uyarı ekrana </a:t>
            </a:r>
            <a:r>
              <a:rPr lang="en-US" sz="7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çıkmamalıdır</a:t>
            </a:r>
            <a:r>
              <a:rPr lang="en-US" sz="7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Sistem, veri girişini ya temizlemeli ya da özel karakter tespit edildiği için form gönderimini </a:t>
            </a:r>
            <a:r>
              <a:rPr lang="en-US" sz="700" dirty="0">
                <a:solidFill>
                  <a:srgbClr val="000000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</a:t>
            </a:r>
            <a:r>
              <a:rPr lang="en-US" sz="7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ile durdurmalıdır.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75134"/>
            <a:ext cx="8063954" cy="346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 Sonuçları Özeti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40023" y="981075"/>
            <a:ext cx="80639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Üç test senaryosunun tamamı başarıyla tamamlanmıştır. Aşağıdaki özet tablo, her bir test case'inin kimliğini, türünü, ön koşullarını ve sonuçlarını karşılaştırmalı olarak sunmaktadır.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0023" y="1375544"/>
            <a:ext cx="8063954" cy="1539478"/>
          </a:xfrm>
          <a:prstGeom prst="roundRect">
            <a:avLst>
              <a:gd name="adj" fmla="val 302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0023" y="1640160"/>
            <a:ext cx="8063954" cy="69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40023" y="2064321"/>
            <a:ext cx="8063954" cy="69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540023" y="2488481"/>
            <a:ext cx="8063954" cy="69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511424" y="1375544"/>
            <a:ext cx="6932" cy="153947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283372" y="1375544"/>
            <a:ext cx="6932" cy="153947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941293" y="1375544"/>
            <a:ext cx="6932" cy="153947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55811" y="1432843"/>
            <a:ext cx="11995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Test 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24682" y="1432843"/>
            <a:ext cx="20026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Test Türü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96630" y="1432843"/>
            <a:ext cx="288860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Ön Koşul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54551" y="1432843"/>
            <a:ext cx="289098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Sonuç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5811" y="1695078"/>
            <a:ext cx="11995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TC-001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24682" y="1695078"/>
            <a:ext cx="20026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Happy Path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96630" y="1695078"/>
            <a:ext cx="24314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Kullanıcı ana sayfada, en az 1 onaylanmış personel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54551" y="1695078"/>
            <a:ext cx="24337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 — alert-success mesajı DOM'da doğrulandı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5811" y="2119238"/>
            <a:ext cx="11995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TC-002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24682" y="2119238"/>
            <a:ext cx="20026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İşlemi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96630" y="2119238"/>
            <a:ext cx="24314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"Bekliyor" statüsünde en az 1 randevu (TC-001 tamamlanmış)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4551" y="2119238"/>
            <a:ext cx="24337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 — "Onaylandı" durumu ve başarı mesajı doğrulandı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5811" y="2543398"/>
            <a:ext cx="11995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TC-003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24682" y="2543398"/>
            <a:ext cx="20026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Security / Negative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96630" y="2543398"/>
            <a:ext cx="24314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panelinde onaylanmış veya bekleyen randevu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54551" y="2543398"/>
            <a:ext cx="24337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 — XSS payload'u %100 engellendi, zafiyet yok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0023" y="3060129"/>
            <a:ext cx="2621533" cy="365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540023" y="3541291"/>
            <a:ext cx="262153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 Senaryosu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0023" y="3762301"/>
            <a:ext cx="262153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Uçtan uca E2E test case çalıştırıldı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61196" y="3060129"/>
            <a:ext cx="2621533" cy="365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850" dirty="0"/>
          </a:p>
        </p:txBody>
      </p:sp>
      <p:sp>
        <p:nvSpPr>
          <p:cNvPr id="31" name="Text 29"/>
          <p:cNvSpPr/>
          <p:nvPr/>
        </p:nvSpPr>
        <p:spPr>
          <a:xfrm>
            <a:off x="3261196" y="3541291"/>
            <a:ext cx="262153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Geçen Test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61196" y="3762301"/>
            <a:ext cx="262153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Tüm senaryolar başarıyla tamamlandı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82370" y="3060129"/>
            <a:ext cx="2621533" cy="365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100%</a:t>
            </a:r>
            <a:endParaRPr lang="en-US" sz="2850" dirty="0"/>
          </a:p>
        </p:txBody>
      </p:sp>
      <p:sp>
        <p:nvSpPr>
          <p:cNvPr id="34" name="Text 32"/>
          <p:cNvSpPr/>
          <p:nvPr/>
        </p:nvSpPr>
        <p:spPr>
          <a:xfrm>
            <a:off x="5982370" y="3541291"/>
            <a:ext cx="262153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Başarı Oranı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82370" y="3762301"/>
            <a:ext cx="262153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Hiçbir test başarısız olmadı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0023" y="4004370"/>
            <a:ext cx="8063954" cy="663997"/>
          </a:xfrm>
          <a:prstGeom prst="roundRect">
            <a:avLst>
              <a:gd name="adj" fmla="val 7015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00" y="4150668"/>
            <a:ext cx="138633" cy="110877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00410" y="4111749"/>
            <a:ext cx="7592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TC-003 Güvenlik Notu:</a:t>
            </a: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Kullanıcının form submit aksiyonu sırasında sistemin client-side XSS savunma mekanizması (base.html) devreye girerek </a:t>
            </a:r>
            <a:r>
              <a:rPr lang="en-US" sz="8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"Bu alana özel karakterler girilemez"</a:t>
            </a: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uyarısını fırlattı ve zararlı scriptin backend'e gitmesini </a:t>
            </a:r>
            <a:r>
              <a:rPr lang="en-US" sz="8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%100 engelledi</a:t>
            </a: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Test senaryosu, sistemin savunma uyarısını doğrulayarak zafiyet barındırmadığını kanıtladı.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Ekran Gösterisi (16:9)</PresentationFormat>
  <Paragraphs>82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Corben</vt:lpstr>
      <vt:lpstr>Nobile</vt:lpstr>
      <vt:lpstr>Consolas</vt:lpstr>
      <vt:lpstr>Nobile Bold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BERKAY AKTİMUR</cp:lastModifiedBy>
  <cp:revision>3</cp:revision>
  <dcterms:created xsi:type="dcterms:W3CDTF">2026-07-20T13:36:49Z</dcterms:created>
  <dcterms:modified xsi:type="dcterms:W3CDTF">2026-07-21T19:15:07Z</dcterms:modified>
</cp:coreProperties>
</file>